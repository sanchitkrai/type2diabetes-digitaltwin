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Bitter SemiBold"/>
      <p:regular r:id="rId201314"/>
    </p:embeddedFont>
    <p:embeddedFont>
      <p:font typeface="Bitter"/>
      <p:regular r:id="rId201315"/>
    </p:embeddedFont>
    <p:embeddedFont>
      <p:font typeface="Bitter Bold"/>
      <p:regular r:id="rId201316"/>
    </p:embeddedFont>
    <p:embeddedFont>
      <p:font typeface="Jost"/>
      <p:regular r:id="rId201317"/>
    </p:embeddedFont>
    <p:embeddedFont>
      <p:font typeface="Jo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RESEARCH PROOF OF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 2 Diabetes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Twin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2977455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patient-specific simulated state for forecasting whether glucose will exceed 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076E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160 mg/dL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exactly 2 hours ahead.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4026892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Sanchit Kumar rai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5978227"/>
            <a:ext cx="1794525" cy="270173"/>
          </a:xfrm>
          <a:prstGeom prst="roundRect">
            <a:avLst>
              <a:gd name="adj" fmla="val 4231"/>
            </a:avLst>
          </a:prstGeom>
          <a:solidFill>
            <a:srgbClr val="1E1538"/>
          </a:solidFill>
          <a:ln/>
        </p:spPr>
      </p:sp>
      <p:sp>
        <p:nvSpPr>
          <p:cNvPr id="7" name="Text 5"/>
          <p:cNvSpPr/>
          <p:nvPr/>
        </p:nvSpPr>
        <p:spPr>
          <a:xfrm>
            <a:off x="716242" y="6031508"/>
            <a:ext cx="219079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NOT FOR CLINICAL USE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808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THE PROBLEM 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79774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Diabetes is dynamic, but conventional records are mostly snapshots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3296345"/>
            <a:ext cx="5333867" cy="1659037"/>
          </a:xfrm>
          <a:prstGeom prst="roundRect">
            <a:avLst>
              <a:gd name="adj" fmla="val 689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3543995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THE EHR CAPTURES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29" y="3803650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Diagnoses, labs, and medications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4210050"/>
            <a:ext cx="48385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Useful static context, but not the patient’s continuously changing state.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3296345"/>
            <a:ext cx="5333867" cy="1659037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3524945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6838" y="3784600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happens next?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6838" y="4191000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Can a patient-specific simulated state estimate whether glucose will exceed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160 mg/dL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exactly 2 hours ahead?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513318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C076E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160 mg/dL</a:t>
            </a:r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is a synthetic modeling target, not a clinical threshold. </a:t>
            </a:r>
            <a:pPr algn="l" indent="0" marL="0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NOT FOR CLINICAL USE.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DIGITAL TWIN LOGIC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digital twin fuses context, current state, and forecast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42455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5913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717105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Static context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123505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Demographics, diagnoses, labs, and medications.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68691" y="2342455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25913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0" name="Text 8"/>
          <p:cNvSpPr/>
          <p:nvPr/>
        </p:nvSpPr>
        <p:spPr>
          <a:xfrm>
            <a:off x="4368691" y="2717105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Dynamic state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68691" y="3123505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Synthetic CGM, steps, sleep stage, and timestamped physiology.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7797" y="2342455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25913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4" name="Text 12"/>
          <p:cNvSpPr/>
          <p:nvPr/>
        </p:nvSpPr>
        <p:spPr>
          <a:xfrm>
            <a:off x="8127797" y="2717105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Forecast loop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27797" y="3123505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XGBoost risk probability, 2-hour outcome, and SHAP explanation.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5839520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17" name="Text 15"/>
          <p:cNvSpPr/>
          <p:nvPr/>
        </p:nvSpPr>
        <p:spPr>
          <a:xfrm>
            <a:off x="609585" y="606177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twin is a continuously updated patient view, not a single record snapshot.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942960" y="6466086"/>
            <a:ext cx="2487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DATA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data layer combines synthetic EHR with wearable streams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4622684" cy="2033984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45655"/>
            <a:ext cx="439409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SYNTHETIC EHR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179" y="2805311"/>
            <a:ext cx="416549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98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38179" y="3618111"/>
            <a:ext cx="439409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simulated Type 2 Diabetes patients from Synthea.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36962" y="2317055"/>
            <a:ext cx="6045148" cy="2033984"/>
          </a:xfrm>
          <a:prstGeom prst="roundRect">
            <a:avLst>
              <a:gd name="adj" fmla="val 562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84606" y="2564705"/>
            <a:ext cx="579750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WEARABLE SIMULATION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84606" y="2824361"/>
            <a:ext cx="55498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5-minute time resolution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84606" y="3230761"/>
            <a:ext cx="55498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288 CGM readings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per patient per day, joined with timestamped activity and sleep states.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84606" y="3833217"/>
            <a:ext cx="532791" cy="270173"/>
          </a:xfrm>
          <a:prstGeom prst="roundRect">
            <a:avLst>
              <a:gd name="adj" fmla="val 4231"/>
            </a:avLst>
          </a:prstGeom>
          <a:noFill/>
          <a:ln w="12700">
            <a:solidFill>
              <a:srgbClr val="B79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1264" y="3886498"/>
            <a:ext cx="92906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CGM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6295" y="3833217"/>
            <a:ext cx="630321" cy="270173"/>
          </a:xfrm>
          <a:prstGeom prst="roundRect">
            <a:avLst>
              <a:gd name="adj" fmla="val 4231"/>
            </a:avLst>
          </a:prstGeom>
          <a:noFill/>
          <a:ln w="12700">
            <a:solidFill>
              <a:srgbClr val="B79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2953" y="3886498"/>
            <a:ext cx="102659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25514" y="3833217"/>
            <a:ext cx="636472" cy="270173"/>
          </a:xfrm>
          <a:prstGeom prst="roundRect">
            <a:avLst>
              <a:gd name="adj" fmla="val 4231"/>
            </a:avLst>
          </a:prstGeom>
          <a:noFill/>
          <a:ln w="12700">
            <a:solidFill>
              <a:srgbClr val="B79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2171" y="3886498"/>
            <a:ext cx="103274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SLEEP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585" y="4528840"/>
            <a:ext cx="259073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SLEEP STATES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2716" y="4582120"/>
            <a:ext cx="111072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AWAKE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04905" y="4582120"/>
            <a:ext cx="1036115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7194" y="4582120"/>
            <a:ext cx="97281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383" y="4582120"/>
            <a:ext cx="91794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941174" y="6466086"/>
            <a:ext cx="2505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IMPLEMENTED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pipeline turns synthetic inputs into an explainable patient view</a:t>
            </a:r>
            <a:endParaRPr lang="en-US" sz="5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91655"/>
            <a:ext cx="5524362" cy="368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7221" y="2484537"/>
            <a:ext cx="314416" cy="314424"/>
          </a:xfrm>
          <a:prstGeom prst="ellipse">
            <a:avLst/>
          </a:prstGeom>
          <a:solidFill>
            <a:srgbClr val="17102B"/>
          </a:solidFill>
          <a:ln w="19050">
            <a:solidFill>
              <a:srgbClr val="3029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00720" y="2552799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29433" y="2508349"/>
            <a:ext cx="395267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Synthetic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29433" y="2872780"/>
            <a:ext cx="39526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 EHR and wearable streams.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7221" y="3274020"/>
            <a:ext cx="339320" cy="339328"/>
          </a:xfrm>
          <a:prstGeom prst="ellipse">
            <a:avLst/>
          </a:prstGeom>
          <a:solidFill>
            <a:srgbClr val="17102B"/>
          </a:solidFill>
          <a:ln w="19050">
            <a:solidFill>
              <a:srgbClr val="3029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00720" y="3354784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54337" y="3310334"/>
            <a:ext cx="39277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Fusion + features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54337" y="3674765"/>
            <a:ext cx="392777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Align signals into predictive state.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37221" y="4076005"/>
            <a:ext cx="342395" cy="342404"/>
          </a:xfrm>
          <a:prstGeom prst="ellipse">
            <a:avLst/>
          </a:prstGeom>
          <a:solidFill>
            <a:srgbClr val="17102B"/>
          </a:solidFill>
          <a:ln w="19050">
            <a:solidFill>
              <a:srgbClr val="3029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00720" y="4158258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57412" y="4113808"/>
            <a:ext cx="392469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Split + predict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657412" y="4478238"/>
            <a:ext cx="392469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Hold out patients, then forecast risk.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37221" y="4879479"/>
            <a:ext cx="347158" cy="347166"/>
          </a:xfrm>
          <a:prstGeom prst="ellipse">
            <a:avLst/>
          </a:prstGeom>
          <a:solidFill>
            <a:srgbClr val="17102B"/>
          </a:solidFill>
          <a:ln w="19050">
            <a:solidFill>
              <a:srgbClr val="3029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00720" y="4964113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62175" y="4919663"/>
            <a:ext cx="391993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Explain + view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662175" y="5284093"/>
            <a:ext cx="391993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Expose SHAP drivers in the digital-twin state and dashboard.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947425" y="6466086"/>
            <a:ext cx="24427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FEATURE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Feature engineering translates raw signals into predictive state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3454314" cy="1907877"/>
          </a:xfrm>
          <a:prstGeom prst="roundRect">
            <a:avLst>
              <a:gd name="adj" fmla="val 599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GLUCOSE STATE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29" y="2824361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Current signal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3230761"/>
            <a:ext cx="295902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Current glucose, 15-minute change, 30-minute rolling mean, and variability.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1" y="2317055"/>
            <a:ext cx="3454314" cy="1907877"/>
          </a:xfrm>
          <a:prstGeom prst="roundRect">
            <a:avLst>
              <a:gd name="adj" fmla="val 599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6335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DYNAMIC CONTEXT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16335" y="2824361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Recent behavior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6335" y="3230761"/>
            <a:ext cx="29590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Current steps, 30-minute step sum, sleep stage, hour, and minute.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2317055"/>
            <a:ext cx="3454314" cy="1907877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1" y="2545655"/>
            <a:ext cx="32257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PATIENT CONTEXT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56391" y="2805311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Baseline profile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6391" y="3211711"/>
            <a:ext cx="299712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Age, gender, HbA1c, BMI, baseline glucose, lipids, and medication count.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585" y="606177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Raw streams become a compact state representation that the model can inspect at each timestamp.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EVALUATION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Patient-level splitting reduces leakage from patient-specific patterns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3454314" cy="3092152"/>
          </a:xfrm>
          <a:prstGeom prst="roundRect">
            <a:avLst>
              <a:gd name="adj" fmla="val 370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TRAINING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29" y="2824361"/>
            <a:ext cx="29590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62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57229" y="3637161"/>
            <a:ext cx="32066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patients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7229" y="4035227"/>
            <a:ext cx="29590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9" name="Text 7"/>
          <p:cNvSpPr/>
          <p:nvPr/>
        </p:nvSpPr>
        <p:spPr>
          <a:xfrm>
            <a:off x="857229" y="4257477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16,058 rows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68691" y="2317055"/>
            <a:ext cx="3454314" cy="3092152"/>
          </a:xfrm>
          <a:prstGeom prst="roundRect">
            <a:avLst>
              <a:gd name="adj" fmla="val 370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6335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6335" y="2824361"/>
            <a:ext cx="29590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16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4616335" y="3637161"/>
            <a:ext cx="32066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patients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6335" y="4035227"/>
            <a:ext cx="29590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15" name="Text 13"/>
          <p:cNvSpPr/>
          <p:nvPr/>
        </p:nvSpPr>
        <p:spPr>
          <a:xfrm>
            <a:off x="4616335" y="4257477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4,144 rows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6335" y="4663877"/>
            <a:ext cx="29590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Threshold selection and model comparison.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7797" y="2317055"/>
            <a:ext cx="3454314" cy="309215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1" y="2545655"/>
            <a:ext cx="32257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UNTOUCHED TEST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56391" y="2805311"/>
            <a:ext cx="2997125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20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8356391" y="3618111"/>
            <a:ext cx="32257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patients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56391" y="4016177"/>
            <a:ext cx="2997125" cy="19050"/>
          </a:xfrm>
          <a:prstGeom prst="roundRect">
            <a:avLst>
              <a:gd name="adj" fmla="val 49999"/>
            </a:avLst>
          </a:prstGeom>
          <a:solidFill>
            <a:srgbClr val="C076ED"/>
          </a:solidFill>
          <a:ln/>
        </p:spPr>
      </p:sp>
      <p:sp>
        <p:nvSpPr>
          <p:cNvPr id="22" name="Text 20"/>
          <p:cNvSpPr/>
          <p:nvPr/>
        </p:nvSpPr>
        <p:spPr>
          <a:xfrm>
            <a:off x="8356391" y="4238427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5,180 rows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56391" y="4644827"/>
            <a:ext cx="32257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Only unseen patients.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585" y="5561608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Final threshold: </a:t>
            </a:r>
            <a:pPr algn="l" indent="0" marL="0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0.64</a:t>
            </a:r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selected on validation data.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951393" y="6466086"/>
            <a:ext cx="2403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XGBoost converts engineered state into a 2-hour risk forecast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3799785" cy="2187277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45655"/>
            <a:ext cx="357119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MODEL SETTINGS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179" y="2805311"/>
            <a:ext cx="334259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150 estimators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211711"/>
            <a:ext cx="334259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Depth 4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Learning rate 0.05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8179" y="3858617"/>
            <a:ext cx="3342596" cy="19050"/>
          </a:xfrm>
          <a:prstGeom prst="roundRect">
            <a:avLst>
              <a:gd name="adj" fmla="val 49999"/>
            </a:avLst>
          </a:prstGeom>
          <a:solidFill>
            <a:srgbClr val="C076ED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4026892"/>
            <a:ext cx="357119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Subsample and column sampling: 0.8.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14063" y="2317055"/>
            <a:ext cx="3108942" cy="2187277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1706" y="2564705"/>
            <a:ext cx="286129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IMBALANCE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61706" y="2824361"/>
            <a:ext cx="261365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Class weighting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61706" y="3230761"/>
            <a:ext cx="261365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Addresses imbalance in the prediction target.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2317055"/>
            <a:ext cx="3454314" cy="2187277"/>
          </a:xfrm>
          <a:prstGeom prst="roundRect">
            <a:avLst>
              <a:gd name="adj" fmla="val 523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440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75440" y="2824361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Spike probability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440" y="3230761"/>
            <a:ext cx="32066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Binary decision at threshold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0.64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585" y="4707533"/>
            <a:ext cx="207262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ENGINEERED STATE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34510" y="4751983"/>
            <a:ext cx="1381785" cy="57150"/>
          </a:xfrm>
          <a:prstGeom prst="roundRect">
            <a:avLst>
              <a:gd name="adj" fmla="val 49999"/>
            </a:avLst>
          </a:prstGeom>
          <a:solidFill>
            <a:srgbClr val="C076ED"/>
          </a:solidFill>
          <a:ln/>
        </p:spPr>
      </p:sp>
      <p:sp>
        <p:nvSpPr>
          <p:cNvPr id="20" name="Text 18"/>
          <p:cNvSpPr/>
          <p:nvPr/>
        </p:nvSpPr>
        <p:spPr>
          <a:xfrm>
            <a:off x="4368691" y="4707533"/>
            <a:ext cx="27634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XGBOOST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84458" y="4751983"/>
            <a:ext cx="1381587" cy="57150"/>
          </a:xfrm>
          <a:prstGeom prst="roundRect">
            <a:avLst>
              <a:gd name="adj" fmla="val 49999"/>
            </a:avLst>
          </a:prstGeom>
          <a:solidFill>
            <a:srgbClr val="C076ED"/>
          </a:solidFill>
          <a:ln/>
        </p:spPr>
      </p:sp>
      <p:sp>
        <p:nvSpPr>
          <p:cNvPr id="22" name="Text 20"/>
          <p:cNvSpPr/>
          <p:nvPr/>
        </p:nvSpPr>
        <p:spPr>
          <a:xfrm>
            <a:off x="8818540" y="4707533"/>
            <a:ext cx="27635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2-HOUR RISK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9585" y="505291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Target: future glucose above </a:t>
            </a:r>
            <a:pPr algn="l" indent="0" marL="0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160 mg/dL</a:t>
            </a:r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exactly 2 hours ahead.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HELD-OUT PERFORMANCE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held-out test shows strong simulated performance, with important caveats</a:t>
            </a:r>
            <a:endParaRPr lang="en-US" sz="5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34729"/>
            <a:ext cx="5905352" cy="279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59327" y="2266255"/>
            <a:ext cx="2235144" cy="3131046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6" name="Text 3"/>
          <p:cNvSpPr/>
          <p:nvPr/>
        </p:nvSpPr>
        <p:spPr>
          <a:xfrm>
            <a:off x="7187921" y="2494855"/>
            <a:ext cx="177795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5-FOLD PATIENT-LEVEL CROSS-VALIDATION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87921" y="2941141"/>
            <a:ext cx="17779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Mean ROC-AUC 0.9658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87921" y="3626941"/>
            <a:ext cx="200655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Mean F1-score 0.6337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346867" y="2266255"/>
            <a:ext cx="2235243" cy="3131046"/>
          </a:xfrm>
          <a:prstGeom prst="roundRect">
            <a:avLst>
              <a:gd name="adj" fmla="val 511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94511" y="2513905"/>
            <a:ext cx="19875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CAVEAT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594511" y="2805311"/>
            <a:ext cx="1739956" cy="234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These results are simulation-dependent and should not be interpreted as clinical performance.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NOT FOR CLINICAL USE.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940975" y="6466086"/>
            <a:ext cx="25072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09 — EXPLAINABILITY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SHAP turns a risk score into a question the evaluator can inspect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545655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945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920305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Global contributors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326705"/>
            <a:ext cx="345431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30-minute glucose pattern, 30-minute activity, time of day, current activity, baseline glucose, and current glucose.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68691" y="2545655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27945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0" name="Text 8"/>
          <p:cNvSpPr/>
          <p:nvPr/>
        </p:nvSpPr>
        <p:spPr>
          <a:xfrm>
            <a:off x="4368691" y="2920305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Local moment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68691" y="3326705"/>
            <a:ext cx="345431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Inspect the strongest feature contributions at a selected patient’s highest-risk moment.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2317055"/>
            <a:ext cx="3454314" cy="198477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1" y="2545655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56391" y="2794595"/>
            <a:ext cx="2997125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391" y="2920305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Evaluator question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56391" y="3326705"/>
            <a:ext cx="299712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Which signals contributed to this risk score, and do they make sense in context?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5" y="5839520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606177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C076ED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SHAP describes model contribution, not biological causation.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3628" y="6466086"/>
            <a:ext cx="30806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02023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Limitations &amp; Responsible Use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931293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PoC is intentionally transparent about what it does not yet prove.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3312716"/>
            <a:ext cx="4063898" cy="3545284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046736"/>
            <a:ext cx="28447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Data 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453136"/>
            <a:ext cx="2844729" cy="167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Synthetic EHR and wearable data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One simulated day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Simplified glucose physiology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Fixed meal timing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genetic markers yet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3898" y="3312716"/>
            <a:ext cx="4063898" cy="3545284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8" name="Text 6"/>
          <p:cNvSpPr/>
          <p:nvPr/>
        </p:nvSpPr>
        <p:spPr>
          <a:xfrm>
            <a:off x="4673483" y="3922316"/>
            <a:ext cx="28447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Model limitations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3483" y="4328716"/>
            <a:ext cx="2844729" cy="191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Synthetic modeling target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clinical validation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external validation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real-time production stream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Performance is simulation-dependent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3312716"/>
            <a:ext cx="4063898" cy="3545284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1" name="Text 9"/>
          <p:cNvSpPr/>
          <p:nvPr/>
        </p:nvSpPr>
        <p:spPr>
          <a:xfrm>
            <a:off x="8737381" y="4068961"/>
            <a:ext cx="28447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Responsible framing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37381" y="4475361"/>
            <a:ext cx="2844729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Research proof of concept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Not a medical device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Not for diagnosis or treatment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work requires real longitudinal data and clinical validation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3303191"/>
            <a:ext cx="4063898" cy="1905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54374" y="3312716"/>
            <a:ext cx="19050" cy="3545284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3303191"/>
            <a:ext cx="4063898" cy="1905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118272" y="3312716"/>
            <a:ext cx="19050" cy="3545284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3303191"/>
            <a:ext cx="4063898" cy="1905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912798" y="6466086"/>
            <a:ext cx="27889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832829" cy="695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895" y="6466086"/>
            <a:ext cx="22198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 2 Diabetes Digital Twin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1895634" y="6466086"/>
            <a:ext cx="29606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0232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61976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From PoC to a Real Digital Twin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191246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current architecture establishes the loop; the next step is richer longitudinal data and validation.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642096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11996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Next technical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518396"/>
            <a:ext cx="5333867" cy="200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 CGM + wearable streams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Longer longitudinal histories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HRV and additional physiological signals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Meals, insulin and medication timing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Personalized / adaptive models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Online state updating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Uncertainty estimation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2883396"/>
            <a:ext cx="5333867" cy="2872184"/>
          </a:xfrm>
          <a:prstGeom prst="rect">
            <a:avLst/>
          </a:prstGeom>
          <a:solidFill>
            <a:srgbClr val="241D38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3111996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Closing message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76838" y="3518396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From static patient records to a dynamic, explainable estimate of what may happen next.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6838" y="4244677"/>
            <a:ext cx="48766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PoC demonstrates the data-fusion, prediction, explanation and dashboard loop required for a patient-specific diabetes Digital Twin.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2026-10-06T15:16:45Z</dcterms:created>
  <dcterms:modified xsi:type="dcterms:W3CDTF">2026-10-06T15:16:45Z</dcterms:modified>
</cp:coreProperties>
</file>